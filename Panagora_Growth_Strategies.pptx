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Accelerating Growth</a:t>
            </a:r>
            <a:br/>
            <a:r>
              <a:t>in the AI 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009999"/>
                </a:solidFill>
              </a:defRPr>
            </a:pPr>
            <a:r>
              <a:t>Distribution Strategy | Investor Engagement | AUM Expansion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Panagora Asset Management  |  Strategic Discussion  |  December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The Quantitative Investing Landscape &amp; Panagora's 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394960" cy="4572000"/>
          </a:xfrm>
          <a:prstGeom prst="roundRect">
            <a:avLst/>
          </a:prstGeom>
          <a:solidFill>
            <a:srgbClr val="F0F3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MARKET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>
                <a:solidFill>
                  <a:srgbClr val="333333"/>
                </a:solidFill>
              </a:defRPr>
            </a:pPr>
            <a:r>
              <a:t>» $2T+ in systematic AUM globally—quant now mainstream</a:t>
            </a:r>
          </a:p>
          <a:p>
            <a:pPr>
              <a:spcBef>
                <a:spcPts val="1000"/>
              </a:spcBef>
              <a:defRPr sz="1400">
                <a:solidFill>
                  <a:srgbClr val="333333"/>
                </a:solidFill>
              </a:defRPr>
            </a:pPr>
            <a:r>
              <a:t>» Shift from 'big data' to 'smart data' with demonstrable alpha</a:t>
            </a:r>
          </a:p>
          <a:p>
            <a:pPr>
              <a:spcBef>
                <a:spcPts val="1000"/>
              </a:spcBef>
              <a:defRPr sz="1400">
                <a:solidFill>
                  <a:srgbClr val="333333"/>
                </a:solidFill>
              </a:defRPr>
            </a:pPr>
            <a:r>
              <a:t>» ESG integration table stakes, but quality data scarce</a:t>
            </a:r>
          </a:p>
          <a:p>
            <a:pPr>
              <a:spcBef>
                <a:spcPts val="1000"/>
              </a:spcBef>
              <a:defRPr sz="1400">
                <a:solidFill>
                  <a:srgbClr val="333333"/>
                </a:solidFill>
              </a:defRPr>
            </a:pPr>
            <a:r>
              <a:t>» Risk Parity gaining traction: 60/40 portfolios carry 93% equity risk</a:t>
            </a:r>
          </a:p>
          <a:p>
            <a:pPr>
              <a:spcBef>
                <a:spcPts val="1000"/>
              </a:spcBef>
              <a:defRPr sz="1400">
                <a:solidFill>
                  <a:srgbClr val="333333"/>
                </a:solidFill>
              </a:defRPr>
            </a:pPr>
            <a:r>
              <a:t>» AI reshaping both investment process AND distribution expectations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394960" cy="45720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999"/>
                </a:solidFill>
              </a:defRPr>
            </a:pPr>
            <a:r>
              <a:t>PANAGORA DIFFERENTIATORS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>
                <a:solidFill>
                  <a:srgbClr val="FFFFFF"/>
                </a:solidFill>
              </a:defRPr>
            </a:pPr>
            <a:r>
              <a:t>» Proprietary data creation: biotech FDA models, NLP sentiment, Chinese social scraping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» 'Discovery &amp; Dollars' philosophy—human-machine synthesis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» Integrated research + portfolio management teams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» Risk Parity leadership: 0.87 vs 0.67 Sharpe (vs 60/40)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» ESG innovation: greenwashing detection via NLP, materiality focus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>
                <a:solidFill>
                  <a:srgbClr val="009999"/>
                </a:solidFill>
              </a:defRPr>
            </a:pPr>
            <a:r>
              <a:t>Created for Discussion with Tim Stanton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AI-Era Distribution: Intelligent Lead Management &amp; Engagement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3566160" cy="4846320"/>
          </a:xfrm>
          <a:prstGeom prst="roundRect">
            <a:avLst/>
          </a:prstGeom>
          <a:solidFill>
            <a:srgbClr val="F0F3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828800"/>
            <a:ext cx="411480" cy="411480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3366"/>
                </a:solidFill>
              </a:defRPr>
            </a:pPr>
            <a:r>
              <a:t>Predictive Lead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200">
                <a:solidFill>
                  <a:srgbClr val="333333"/>
                </a:solidFill>
              </a:defRPr>
            </a:pPr>
            <a:r>
              <a:t>» ML models on CRM data: score by conversion probability &amp; AUM potential</a:t>
            </a:r>
          </a:p>
          <a:p>
            <a:pPr>
              <a:spcBef>
                <a:spcPts val="800"/>
              </a:spcBef>
              <a:defRPr sz="1200">
                <a:solidFill>
                  <a:srgbClr val="333333"/>
                </a:solidFill>
              </a:defRPr>
            </a:pPr>
            <a:r>
              <a:t>» External signals: job changes, RFP activity, regulatory filings, conference attendance</a:t>
            </a:r>
          </a:p>
          <a:p>
            <a:pPr>
              <a:spcBef>
                <a:spcPts val="800"/>
              </a:spcBef>
              <a:defRPr sz="1200">
                <a:solidFill>
                  <a:srgbClr val="333333"/>
                </a:solidFill>
              </a:defRPr>
            </a:pPr>
            <a:r>
              <a:t>» Real-time alerts on buying intent: website visits, content downloads</a:t>
            </a:r>
          </a:p>
          <a:p>
            <a:pPr>
              <a:spcBef>
                <a:spcPts val="800"/>
              </a:spcBef>
              <a:defRPr sz="1200">
                <a:solidFill>
                  <a:srgbClr val="333333"/>
                </a:solidFill>
              </a:defRPr>
            </a:pPr>
            <a:r>
              <a:t>» Prioritize sales time on highest-value opportunities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91640"/>
            <a:ext cx="3566160" cy="4846320"/>
          </a:xfrm>
          <a:prstGeom prst="roundRect">
            <a:avLst/>
          </a:prstGeom>
          <a:solidFill>
            <a:srgbClr val="F0F3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1828800"/>
            <a:ext cx="411480" cy="411480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874519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3366"/>
                </a:solidFill>
              </a:defRPr>
            </a:pPr>
            <a:r>
              <a:t>Hyper-Personalized Outreach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231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200">
                <a:solidFill>
                  <a:srgbClr val="333333"/>
                </a:solidFill>
              </a:defRPr>
            </a:pPr>
            <a:r>
              <a:t>» AI-drafted communications tailored to portfolio gaps &amp; interests</a:t>
            </a:r>
          </a:p>
          <a:p>
            <a:pPr>
              <a:spcBef>
                <a:spcPts val="800"/>
              </a:spcBef>
              <a:defRPr sz="1200">
                <a:solidFill>
                  <a:srgbClr val="333333"/>
                </a:solidFill>
              </a:defRPr>
            </a:pPr>
            <a:r>
              <a:t>» Dynamic content: Risk Parity to consultants, ESG to pensions</a:t>
            </a:r>
          </a:p>
          <a:p>
            <a:pPr>
              <a:spcBef>
                <a:spcPts val="800"/>
              </a:spcBef>
              <a:defRPr sz="1200">
                <a:solidFill>
                  <a:srgbClr val="333333"/>
                </a:solidFill>
              </a:defRPr>
            </a:pPr>
            <a:r>
              <a:t>» Adaptive nurture sequences based on engagement patterns</a:t>
            </a:r>
          </a:p>
          <a:p>
            <a:pPr>
              <a:spcBef>
                <a:spcPts val="800"/>
              </a:spcBef>
              <a:defRPr sz="1200">
                <a:solidFill>
                  <a:srgbClr val="333333"/>
                </a:solidFill>
              </a:defRPr>
            </a:pPr>
            <a:r>
              <a:t>» Scale personalization without scaling headcount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91640"/>
            <a:ext cx="3566160" cy="4846320"/>
          </a:xfrm>
          <a:prstGeom prst="roundRect">
            <a:avLst/>
          </a:prstGeom>
          <a:solidFill>
            <a:srgbClr val="F0F3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75320" y="1828800"/>
            <a:ext cx="411480" cy="411480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874519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3366"/>
                </a:solidFill>
              </a:defRPr>
            </a:pPr>
            <a:r>
              <a:t>Intelligent Meeting Prep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231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200">
                <a:solidFill>
                  <a:srgbClr val="333333"/>
                </a:solidFill>
              </a:defRPr>
            </a:pPr>
            <a:r>
              <a:t>» AI briefing docs: holdings, recent allocations, stated concerns</a:t>
            </a:r>
          </a:p>
          <a:p>
            <a:pPr>
              <a:spcBef>
                <a:spcPts val="800"/>
              </a:spcBef>
              <a:defRPr sz="1200">
                <a:solidFill>
                  <a:srgbClr val="333333"/>
                </a:solidFill>
              </a:defRPr>
            </a:pPr>
            <a:r>
              <a:t>» Competitive positioning summaries before every pitch</a:t>
            </a:r>
          </a:p>
          <a:p>
            <a:pPr>
              <a:spcBef>
                <a:spcPts val="800"/>
              </a:spcBef>
              <a:defRPr sz="1200">
                <a:solidFill>
                  <a:srgbClr val="333333"/>
                </a:solidFill>
              </a:defRPr>
            </a:pPr>
            <a:r>
              <a:t>» Conversation guides highlighting relevant Panagora strengths</a:t>
            </a:r>
          </a:p>
          <a:p>
            <a:pPr>
              <a:spcBef>
                <a:spcPts val="800"/>
              </a:spcBef>
              <a:defRPr sz="1200">
                <a:solidFill>
                  <a:srgbClr val="333333"/>
                </a:solidFill>
              </a:defRPr>
            </a:pPr>
            <a:r>
              <a:t>» Post-meeting auto-generated follow-up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Generating Buzz: Thought Leadership &amp; Publicity for Modern Investors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3566160" cy="4846320"/>
          </a:xfrm>
          <a:prstGeom prst="roundRect">
            <a:avLst/>
          </a:prstGeom>
          <a:solidFill>
            <a:srgbClr val="F0F3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1828800"/>
            <a:ext cx="411480" cy="411480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3366"/>
                </a:solidFill>
              </a:defRPr>
            </a:pPr>
            <a:r>
              <a:t>AI-Powered Content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200">
                <a:solidFill>
                  <a:srgbClr val="333333"/>
                </a:solidFill>
              </a:defRPr>
            </a:pPr>
            <a:r>
              <a:t>» Research → white papers → podcasts → social threads → video clips</a:t>
            </a:r>
          </a:p>
          <a:p>
            <a:pPr>
              <a:spcBef>
                <a:spcPts val="800"/>
              </a:spcBef>
              <a:defRPr sz="1200">
                <a:solidFill>
                  <a:srgbClr val="333333"/>
                </a:solidFill>
              </a:defRPr>
            </a:pPr>
            <a:r>
              <a:t>» Real-time market commentary: AI draft + human polish = speed + quality</a:t>
            </a:r>
          </a:p>
          <a:p>
            <a:pPr>
              <a:spcBef>
                <a:spcPts val="800"/>
              </a:spcBef>
              <a:defRPr sz="1200">
                <a:solidFill>
                  <a:srgbClr val="333333"/>
                </a:solidFill>
              </a:defRPr>
            </a:pPr>
            <a:r>
              <a:t>» Interactive 'Risk Parity Portfolio Builder' for prospects</a:t>
            </a:r>
          </a:p>
          <a:p>
            <a:pPr>
              <a:spcBef>
                <a:spcPts val="800"/>
              </a:spcBef>
              <a:defRPr sz="1200">
                <a:solidFill>
                  <a:srgbClr val="333333"/>
                </a:solidFill>
              </a:defRPr>
            </a:pPr>
            <a:r>
              <a:t>» 'Smart Data, Smart Alpha' thought leadership series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91640"/>
            <a:ext cx="3566160" cy="4846320"/>
          </a:xfrm>
          <a:prstGeom prst="roundRect">
            <a:avLst/>
          </a:prstGeom>
          <a:solidFill>
            <a:srgbClr val="F0F3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4840" y="1828800"/>
            <a:ext cx="411480" cy="411480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874519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3366"/>
                </a:solidFill>
              </a:defRPr>
            </a:pPr>
            <a:r>
              <a:t>Strategic Amplification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4231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200">
                <a:solidFill>
                  <a:srgbClr val="333333"/>
                </a:solidFill>
              </a:defRPr>
            </a:pPr>
            <a:r>
              <a:t>» LinkedIn optimization: timing, hashtags, engagement triggers</a:t>
            </a:r>
          </a:p>
          <a:p>
            <a:pPr>
              <a:spcBef>
                <a:spcPts val="800"/>
              </a:spcBef>
              <a:defRPr sz="1200">
                <a:solidFill>
                  <a:srgbClr val="333333"/>
                </a:solidFill>
              </a:defRPr>
            </a:pPr>
            <a:r>
              <a:t>» Earned media: pitch 'Why 60/40 is dead' angles to financial press</a:t>
            </a:r>
          </a:p>
          <a:p>
            <a:pPr>
              <a:spcBef>
                <a:spcPts val="800"/>
              </a:spcBef>
              <a:defRPr sz="1200">
                <a:solidFill>
                  <a:srgbClr val="333333"/>
                </a:solidFill>
              </a:defRPr>
            </a:pPr>
            <a:r>
              <a:t>» Podcast circuit: CIO shows with Eric's 'pilot + quant' narrative</a:t>
            </a:r>
          </a:p>
          <a:p>
            <a:pPr>
              <a:spcBef>
                <a:spcPts val="800"/>
              </a:spcBef>
              <a:defRPr sz="1200">
                <a:solidFill>
                  <a:srgbClr val="333333"/>
                </a:solidFill>
              </a:defRPr>
            </a:pPr>
            <a:r>
              <a:t>» Update &amp; amplify Institutional Investor Risk Parity research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91640"/>
            <a:ext cx="3566160" cy="4846320"/>
          </a:xfrm>
          <a:prstGeom prst="roundRect">
            <a:avLst/>
          </a:prstGeom>
          <a:solidFill>
            <a:srgbClr val="F0F3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75320" y="1828800"/>
            <a:ext cx="411480" cy="411480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874519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3366"/>
                </a:solidFill>
              </a:defRPr>
            </a:pPr>
            <a:r>
              <a:t>Community &amp;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4231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200">
                <a:solidFill>
                  <a:srgbClr val="333333"/>
                </a:solidFill>
              </a:defRPr>
            </a:pPr>
            <a:r>
              <a:t>» Virtual 'Quant Masterclass' series—exclusive, invite-only</a:t>
            </a:r>
          </a:p>
          <a:p>
            <a:pPr>
              <a:spcBef>
                <a:spcPts val="800"/>
              </a:spcBef>
              <a:defRPr sz="1200">
                <a:solidFill>
                  <a:srgbClr val="333333"/>
                </a:solidFill>
              </a:defRPr>
            </a:pPr>
            <a:r>
              <a:t>» AI-powered post-event follow-up within 24 hours</a:t>
            </a:r>
          </a:p>
          <a:p>
            <a:pPr>
              <a:spcBef>
                <a:spcPts val="800"/>
              </a:spcBef>
              <a:defRPr sz="1200">
                <a:solidFill>
                  <a:srgbClr val="333333"/>
                </a:solidFill>
              </a:defRPr>
            </a:pPr>
            <a:r>
              <a:t>» Target ICP: diversification seekers, pension CIOs</a:t>
            </a:r>
          </a:p>
          <a:p>
            <a:pPr>
              <a:spcBef>
                <a:spcPts val="800"/>
              </a:spcBef>
              <a:defRPr sz="1200">
                <a:solidFill>
                  <a:srgbClr val="333333"/>
                </a:solidFill>
              </a:defRPr>
            </a:pPr>
            <a:r>
              <a:t>» Build long-term relationships, not just transactions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